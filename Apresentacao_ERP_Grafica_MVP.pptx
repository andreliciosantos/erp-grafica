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1005840"/>
            <a:ext cx="2926080" cy="34747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00584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🖨️  MVP SHOWCASE • INDÚSTRIA GRÁFICA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14400" y="155448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ERP Gráfica Modular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914400" y="260604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Plataforma Especializada de Gestão &amp; Engenharia para a Indústria Gráfica: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 Imposição e Corte de Folha ao DRE em Tempo Real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3657600"/>
            <a:ext cx="3291840" cy="1463040"/>
          </a:xfrm>
          <a:prstGeom prst="roundRect">
            <a:avLst>
              <a:gd name="adj" fmla="val 75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3657600"/>
            <a:ext cx="329184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38404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📐 Engenharia &amp; Imposição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43000" y="420624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Cálculo algorítmico do aproveitamento de folha (90° e direto) com sangrias e pinças.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434840" y="3657600"/>
            <a:ext cx="3291840" cy="1463040"/>
          </a:xfrm>
          <a:prstGeom prst="roundRect">
            <a:avLst>
              <a:gd name="adj" fmla="val 75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34840" y="3657600"/>
            <a:ext cx="329184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38404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PCP &amp; Chão de Fábrica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63440" y="420624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Quadro Kanban com máquina de estados rigorosa e baixa automática de estoque na impressão.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955280" y="3657600"/>
            <a:ext cx="3291840" cy="1463040"/>
          </a:xfrm>
          <a:prstGeom prst="roundRect">
            <a:avLst>
              <a:gd name="adj" fmla="val 75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55280" y="3657600"/>
            <a:ext cx="32918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83880" y="38404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DRE &amp; Saúde Financeira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183880" y="420624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 gerencial instantâneo, margem de contribuição e contas a receber integrados.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14400" y="5486400"/>
            <a:ext cx="1417320" cy="292608"/>
          </a:xfrm>
          <a:prstGeom prst="roundRect">
            <a:avLst>
              <a:gd name="adj" fmla="val 25000"/>
            </a:avLst>
          </a:prstGeom>
          <a:solidFill>
            <a:srgbClr val="0F2344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5486400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Turborepo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423160" y="5486400"/>
            <a:ext cx="1417320" cy="292608"/>
          </a:xfrm>
          <a:prstGeom prst="roundRect">
            <a:avLst>
              <a:gd name="adj" fmla="val 25000"/>
            </a:avLst>
          </a:prstGeom>
          <a:solidFill>
            <a:srgbClr val="0F2344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423160" y="5486400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NestJS v11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931920" y="5486400"/>
            <a:ext cx="1417320" cy="292608"/>
          </a:xfrm>
          <a:prstGeom prst="roundRect">
            <a:avLst>
              <a:gd name="adj" fmla="val 25000"/>
            </a:avLst>
          </a:prstGeom>
          <a:solidFill>
            <a:srgbClr val="0F2344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931920" y="5486400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18 + Vite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440680" y="5486400"/>
            <a:ext cx="1417320" cy="292608"/>
          </a:xfrm>
          <a:prstGeom prst="roundRect">
            <a:avLst>
              <a:gd name="adj" fmla="val 25000"/>
            </a:avLst>
          </a:prstGeom>
          <a:solidFill>
            <a:srgbClr val="0F2344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40680" y="5486400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949440" y="5486400"/>
            <a:ext cx="1417320" cy="292608"/>
          </a:xfrm>
          <a:prstGeom prst="roundRect">
            <a:avLst>
              <a:gd name="adj" fmla="val 25000"/>
            </a:avLst>
          </a:prstGeom>
          <a:solidFill>
            <a:srgbClr val="0F2344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49440" y="5486400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Prisma ORM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8458200" y="5486400"/>
            <a:ext cx="1417320" cy="292608"/>
          </a:xfrm>
          <a:prstGeom prst="roundRect">
            <a:avLst>
              <a:gd name="adj" fmla="val 25000"/>
            </a:avLst>
          </a:prstGeom>
          <a:solidFill>
            <a:srgbClr val="0F2344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58200" y="5486400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Decimal.js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9966960" y="5486400"/>
            <a:ext cx="1417320" cy="292608"/>
          </a:xfrm>
          <a:prstGeom prst="roundRect">
            <a:avLst>
              <a:gd name="adj" fmla="val 25000"/>
            </a:avLst>
          </a:prstGeom>
          <a:solidFill>
            <a:srgbClr val="0F2344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966960" y="5486400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Vitest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31520" y="6355080"/>
            <a:ext cx="10725912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1520" y="64190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ERP Gráfica Modular • Apresentação de MVP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9601200" y="6419088"/>
            <a:ext cx="1856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10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194560" cy="292608"/>
          </a:xfrm>
          <a:prstGeom prst="roundRect">
            <a:avLst>
              <a:gd name="adj" fmla="val 46875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 &amp; MERCADO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ERPs genéricos falham na Indústria Gráfica?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física da folha inteira e a engenharia de custos gráfica não cabem em softwares de prateleira.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737360"/>
            <a:ext cx="51206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847088"/>
            <a:ext cx="4663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FÍSICA DA FOLHA INTEIRA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2057400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Imposição, Corte e Sangria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60120" y="2359152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Papéis são adquiridos em grandes formatos (66x96cm, 64x88cm). Saber quantas peças cabem na folha, descontando a margem de pinça da impressora e a sangria do refile, é um cálculo geométrico que define o lucro ou o prejuízo.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31520" y="3200400"/>
            <a:ext cx="51206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3310128"/>
            <a:ext cx="4663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PRECIFICAÇÃO COMPLEXA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960120" y="3520440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Composição Técnica de Custo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60120" y="3822192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preço gráfico não é uma margem percentual sobre um produto pronto. Ele envolve consumo de substrato, tempo de acerto (setup), tiragem/velocidade de máquina, chapas CTP, tintas CMYK e etapas de acabamento terceirizadas.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31520" y="4663440"/>
            <a:ext cx="51206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4773168"/>
            <a:ext cx="4663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CHÃO DE FÁBRICA &amp; ESTOQUE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960120" y="4983480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Descompasso entre Vendas e Produção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60120" y="5285232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Sistemas genéricos não dão baixa automática no estoque no momento em que a folha entra na máquina de impressão, causando rupturas de matéria-prima, retrabalhos e falta de rastreabilidade de custos.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126480" y="1737360"/>
            <a:ext cx="5303520" cy="425196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26480" y="1737360"/>
            <a:ext cx="5303520" cy="9144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1965960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COMPARAÇÃO DIRETA DE MERCADO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0" y="22402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Sistemas Tradicionais vs. ERP Gráfica Modular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00800" y="274320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ERPs de Comércio (Bling, Tiny, Omie):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0" y="3017520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Tratam produtos como mercadoria pronta de prateleira (código de barras e estoque unitário). Não calculam aproveitamento de folha nem horas de setup de máquinas industriais.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400800" y="379476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Softwares Gráficos Legados: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0" y="4069080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Sistemas desktop pesados, tecnologias dos anos 2000, interfaces antiquadas, sem APIs abertas, sem WebSockets em tempo real e de difícil manutenção.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400800" y="484632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Nossa Solução (ERP Gráfica):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0" y="5120640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Monorepo moderno, motor matemático puro com precisão Decimal.js, interface web SPA responsiva, rastreabilidade visual Kanban e DRE gerencial atualizado a cada ordem.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31520" y="6355080"/>
            <a:ext cx="107259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64190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ERP Gráfica Modular • Apresentação de MVP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601200" y="6419088"/>
            <a:ext cx="1856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194560" cy="292608"/>
          </a:xfrm>
          <a:prstGeom prst="roundRect">
            <a:avLst>
              <a:gd name="adj" fmla="val 46875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DE COMANDO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Executivo em Tempo Real &amp; Controle por Perfis (RBAC)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Visão consolidada da operação fabril e financeira com estrito controle de privilégios de acesso.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737360"/>
            <a:ext cx="4389120" cy="425196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92024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DESTAQUES DO PAINEL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960120" y="21488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Gestão Visual &amp; Indicadores Chave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256032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Métricas Operacionais Vivas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60120" y="2779776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de ordens em produção, orçamentos aguardando aprovação e avisos de insumos com estoque baixo.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60120" y="3401568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🔐 4 Perfis de Acesso Estritos (RBAC)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60120" y="3621024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ADMIN: Acesso e parametrização geral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COMMERCIAL: Orçamentos e clientes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FINANCIAL: DRE, contas a pagar e receber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OPERATOR: Apontamento no chão de fábrica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60120" y="4242816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🎨 Design System Profissional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60120" y="4462272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 intuitiva em React + Tailwind CSS com suporte nativo a temas claro e escuro.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60120" y="5084064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Autenticação Segura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60120" y="530352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Proteção via tokens JWT criptografados e controle de sessão.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276088" y="1709928"/>
            <a:ext cx="6227064" cy="3758184"/>
          </a:xfrm>
          <a:prstGeom prst="roundRect">
            <a:avLst>
              <a:gd name="adj" fmla="val 2433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pic>
        <p:nvPicPr>
          <p:cNvPr id="18" name="Image 0" descr="scripts/screenshots/02_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9240" y="1783080"/>
            <a:ext cx="6080760" cy="361188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5349240" y="5623560"/>
            <a:ext cx="6080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📸 Interface real do Dashboard executivo capturada diretamente da versão em execução (localhost:5173)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731520" y="6355080"/>
            <a:ext cx="107259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31520" y="64190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ERP Gráfica Modular • Apresentação de MVP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9601200" y="6419088"/>
            <a:ext cx="1856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194560" cy="292608"/>
          </a:xfrm>
          <a:prstGeom prst="roundRect">
            <a:avLst>
              <a:gd name="adj" fmla="val 46875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ENGENHARIA &amp; PRECIFICAÇÃO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 de Imposição Automática &amp; Formação Técnica de Preço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Matemática arbitrária com Decimal.js eliminando sobras de corte e erros de arredondamento financeiro.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737360"/>
            <a:ext cx="4389120" cy="425196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92024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 MATEMÁTICO (@erp/business-core)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960120" y="21488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Aproveitamento Inteligente da Folha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256032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Otimização de Rotação (90° vs Direto)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60120" y="2779776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sistema testa simultaneamente as duas disposições na folha inteira para escolher a opção que gera o maior número de peças e o menor descarte de papel.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60120" y="3410712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Desconto de Sangria &amp; Pinça de Impressora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60120" y="3630168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Respeita rigorosamente a área não imprimível onde a máquina agarra o papel (pinça) e a área extra para o refile perfeito da guilhotina.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60120" y="4261104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Formação Transparente do Custo Real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60120" y="448056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 de papel consumido + custo de hora/máquina (setup + tiragem) + chapas CTP + acabamentos. Aplicação do markup comercial em cima do custo exato.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60120" y="5111496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Conversão Instantânea para OS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60120" y="5330952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ser aprovado pelo cliente, o orçamento gera imediatamente uma Ordem de Serviço pronta para o chão de fábrica.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276088" y="1709928"/>
            <a:ext cx="6227064" cy="3758184"/>
          </a:xfrm>
          <a:prstGeom prst="roundRect">
            <a:avLst>
              <a:gd name="adj" fmla="val 2433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pic>
        <p:nvPicPr>
          <p:cNvPr id="18" name="Image 0" descr="scripts/screenshots/05_novo_orcamen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9240" y="1783080"/>
            <a:ext cx="6080760" cy="361188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5349240" y="5623560"/>
            <a:ext cx="6080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📸 Simulador e criador de orçamentos técnicos com cálculo instantâneo de peças por folha e formação de preço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731520" y="6355080"/>
            <a:ext cx="107259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31520" y="64190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ERP Gráfica Modular • Apresentação de MVP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9601200" y="6419088"/>
            <a:ext cx="1856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194560" cy="292608"/>
          </a:xfrm>
          <a:prstGeom prst="roundRect">
            <a:avLst>
              <a:gd name="adj" fmla="val 46875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PRODUÇÃO &amp; CHÃO DE FÁBRICA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Rastreabilidade Total com Kanban e Baixa Automática no Estoque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Máquina de estados sequencial rigorosa com sincronização em tempo real via WebSockets.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737360"/>
            <a:ext cx="4389120" cy="425196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92024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MÁQUINA DE ESTADOS DA PRODUÇÃO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960120" y="21488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Esteira Produtiva Sem Gargalos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256032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📍 Fluxo Sequencial Estrito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60120" y="2779776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PENDENTE ➔ PRÉ-IMPRESSÃO ➔ IMPRESSÃO ➔ ACABAMENTO ➔ CONTROLE DE QUALIDADE ➔ PRONTO ➔ ENTREGUE. Impede que etapas sejam puladas.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60120" y="3410712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 Baixa Automática de Matéria-Prima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60120" y="3630168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transicionar a OS para "IMPRESSÃO", a quantidade de folhas calculada na engenharia é automaticamente deduzida do estoque físico.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60120" y="4261104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⏱️ Apontamento de Chão de Fábrica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60120" y="448056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Operadores acionam START, PAUSE e COMPLETE na máquina, registrando tempos reais de produção e perdas para auditoria.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60120" y="5111496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📡 Sincronização em Tempo Real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60120" y="5330952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 WebSocket atualiza o quadro Kanban simultaneamente em todos os terminais da gráfica sem necessidade de recarregar a página.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276088" y="1709928"/>
            <a:ext cx="6227064" cy="3758184"/>
          </a:xfrm>
          <a:prstGeom prst="roundRect">
            <a:avLst>
              <a:gd name="adj" fmla="val 2433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pic>
        <p:nvPicPr>
          <p:cNvPr id="18" name="Image 0" descr="scripts/screenshots/03_kanban_produca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9240" y="1783080"/>
            <a:ext cx="6080760" cy="361188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5349240" y="5623560"/>
            <a:ext cx="6080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📸 Quadro Kanban de ordens de serviço com cartões informando cliente, tiragem, prazos e operadores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731520" y="6355080"/>
            <a:ext cx="107259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31520" y="64190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ERP Gráfica Modular • Apresentação de MVP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9601200" y="6419088"/>
            <a:ext cx="1856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194560" cy="292608"/>
          </a:xfrm>
          <a:prstGeom prst="roundRect">
            <a:avLst>
              <a:gd name="adj" fmla="val 46875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CHAIN &amp; ESTOQUE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Controle Especializado de Papéis e Matérias-Primas Gráficas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Catálogo modelado para formatos de folha inteira, gramaturas industriais e custos de reposição.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737360"/>
            <a:ext cx="4389120" cy="425196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92024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GESTÃO DE SUBSTRATOS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960120" y="21488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Precisão em Folhas e Gramaturas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256032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 Atributos Gráficos Nativos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60120" y="2779776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Cadastro detalhado: Couché (Brilho/Fosco), Offset, Cartão Duplex, Kraft, com largura/altura da folha inteira (ex: 660x960 mm) e gramatura em g/m².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60120" y="3410712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Rastreabilidade de Consumo Real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60120" y="3630168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Histórico auditável: cada baixa no estoque é vinculada ao ID da Ordem de Serviço que a consumiu, garantindo rastreabilidade contra desvios.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60120" y="4261104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🚨 Ponto de Reposição &amp; Alertas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60120" y="448056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Níveis mínimos pré-configurados que sinalizam a necessidade de compra antes que a impressora fique ociosa por falta de papel.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60120" y="5111496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Custos Médios Dinâmicos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60120" y="5330952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Alterações no preço do papel refletem imediatamente nos cálculos de novos orçamentos, blindando a margem da empresa contra a inflação.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276088" y="1709928"/>
            <a:ext cx="6227064" cy="3758184"/>
          </a:xfrm>
          <a:prstGeom prst="roundRect">
            <a:avLst>
              <a:gd name="adj" fmla="val 2433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pic>
        <p:nvPicPr>
          <p:cNvPr id="18" name="Image 0" descr="scripts/screenshots/06_estoque_insum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9240" y="1783080"/>
            <a:ext cx="6080760" cy="361188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5349240" y="5623560"/>
            <a:ext cx="6080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📸 Painel de estoque com especificações de papéis, formatos de folha, gramaturas e quantidades disponíveis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731520" y="6355080"/>
            <a:ext cx="107259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31520" y="64190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ERP Gráfica Modular • Apresentação de MVP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9601200" y="6419088"/>
            <a:ext cx="1856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194560" cy="292608"/>
          </a:xfrm>
          <a:prstGeom prst="roundRect">
            <a:avLst>
              <a:gd name="adj" fmla="val 46875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GESTÃO FINANCEIRA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 Gerencial em Tempo Real, Contas a Receber e OPEX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Conexão direta entre o chão de fábrica e a apuração contábil do resultado líquido da empresa.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737360"/>
            <a:ext cx="4389120" cy="425196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92024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SAÚDE FINANCEIRA &amp; RESULTADOS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960120" y="21488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 Gerencial &amp; Fluxo Financeiro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251460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Estrutura Contábil Automatizada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60120" y="2734056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(+) Receita Bruta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(-) Deduções e Devoluções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(-) CPV (Papel, Tintas, Chapas e Hora-Máquina)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(=) Margem de Contribuição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(-) Despesas Fixas Operacionais (OPEX)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(=) Resultado Líquido do Exercício.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60120" y="365760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💳 Contas a Receber Flexível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60120" y="3877056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Geração automática de títulos a receber vinculados às OSs com condições à vista, faturamento a prazo ou 50/50.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60120" y="480060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Despesas Operacionais (OPEX)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60120" y="5020056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Controle de custos fixos (aluguel, salários, energia elétrica, manutenção preventiva de máquinas) com suporte a despesas recorrentes.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276088" y="1709928"/>
            <a:ext cx="6227064" cy="3758184"/>
          </a:xfrm>
          <a:prstGeom prst="roundRect">
            <a:avLst>
              <a:gd name="adj" fmla="val 2433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pic>
        <p:nvPicPr>
          <p:cNvPr id="16" name="Image 0" descr="scripts/screenshots/07_dre_financei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9240" y="1783080"/>
            <a:ext cx="6080760" cy="361188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5349240" y="5623560"/>
            <a:ext cx="6080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📸 Demonstração do Resultado do Exercício (DRE) gerencial atualizada em tempo real conforme as ordens avançam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731520" y="6355080"/>
            <a:ext cx="107259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31520" y="64190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ERP Gráfica Modular • Apresentação de MVP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9601200" y="6419088"/>
            <a:ext cx="1856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194560" cy="292608"/>
          </a:xfrm>
          <a:prstGeom prst="roundRect">
            <a:avLst>
              <a:gd name="adj" fmla="val 46875"/>
            </a:avLst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ENGENHARIA DE SOFTWARE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Arquitetura Tecnológica Moderna, Resiliente e Escalável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Monorepo de alta performance com TypeScript estrito, NestJS, React, Prisma e 174 testes automatizados.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783080"/>
            <a:ext cx="2560320" cy="4251960"/>
          </a:xfrm>
          <a:prstGeom prst="roundRect">
            <a:avLst>
              <a:gd name="adj" fmla="val 428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783080"/>
            <a:ext cx="2560320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9659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Monorepo &amp; Core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14400" y="2221992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Turborepo + pnpm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914400" y="260604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Compartilhamento de código e tipos em tempo de compilação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14400" y="338328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Motor matemático isolado (@erp/business-core)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14400" y="416052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Pipelines de build paralelos com cache inteligente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14400" y="493776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Contratos compartilhados (@erp/shared-types)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456432" y="1783080"/>
            <a:ext cx="2560320" cy="4251960"/>
          </a:xfrm>
          <a:prstGeom prst="roundRect">
            <a:avLst>
              <a:gd name="adj" fmla="val 428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56432" y="1783080"/>
            <a:ext cx="256032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9312" y="19659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Backend API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639312" y="2221992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NestJS v11 + TypeScript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639312" y="260604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Arquitetura modular orientada a serviços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639312" y="338328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WebSockets Gateway para atualizações em tempo real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639312" y="416052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Tratamento padronizado de erros via RFC 7807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639312" y="493776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19 endpoints documentados e testados no Swagger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181344" y="1783080"/>
            <a:ext cx="2560320" cy="4251960"/>
          </a:xfrm>
          <a:prstGeom prst="roundRect">
            <a:avLst>
              <a:gd name="adj" fmla="val 428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81344" y="1783080"/>
            <a:ext cx="256032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64224" y="19659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 Frontend Web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364224" y="2221992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18 + Vite + Tailwind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364224" y="260604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Single Page Application (SPA) ultra rápida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364224" y="338328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TanStack Query para cache e revalidação otimizada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364224" y="416052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Zustand para gerenciamento reativo de estado global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364224" y="493776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Componentes reutilizáveis com Lucide Icons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8906256" y="1783080"/>
            <a:ext cx="2560320" cy="4251960"/>
          </a:xfrm>
          <a:prstGeom prst="roundRect">
            <a:avLst>
              <a:gd name="adj" fmla="val 428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906256" y="1783080"/>
            <a:ext cx="2560320" cy="731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089136" y="19659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🗄️ Dados &amp; Qualidade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9089136" y="2221992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+ Prisma + Vitest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9089136" y="260604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Banco relacional com integridade estrita e migrações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9089136" y="338328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Decimal.js eliminando bugs de ponto flutuante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9089136" y="416052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174 testes unitários e de integração contínuos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9089136" y="493776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Seeds automáticos para restauração rápida de dados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31520" y="6355080"/>
            <a:ext cx="10725912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31520" y="64190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ERP Gráfica Modular • Apresentação de MVP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9601200" y="6419088"/>
            <a:ext cx="1856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194560" cy="292608"/>
          </a:xfrm>
          <a:prstGeom prst="roundRect">
            <a:avLst>
              <a:gd name="adj" fmla="val 46875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ROTEIRO PRÁTICO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Demonstração ao Vivo: O Fluxo do Pedido em 5 Passos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Roteiro estruturado de 8 minutos para guiar a apresentação prática interativa com os colegas.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783080"/>
            <a:ext cx="2029968" cy="425196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1947672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94767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PASSO 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874520" y="194767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minuto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68680" y="2377440"/>
            <a:ext cx="175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🔐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68680" y="2926080"/>
            <a:ext cx="17556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&amp; Visão Geral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8680" y="3474720"/>
            <a:ext cx="1755648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Acesse http://localhost:5173 com o usuário admin@erpgrafica.com. Apresente o design moderno, métricas no Dashboard e menu lateral.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907792" y="1783080"/>
            <a:ext cx="2029968" cy="425196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44952" y="1947672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44952" y="194767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PASSO 2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050792" y="194767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minutos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044952" y="2377440"/>
            <a:ext cx="175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📐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3044952" y="2926080"/>
            <a:ext cx="17556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Engenharia de Orçamento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044952" y="3474720"/>
            <a:ext cx="1755648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Navegue para "Novo Orçamento". Defina um produto (ex: Cartão de Visita em Couché 300g). Destaque o cálculo automático de peças por folha e aproveitamento.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084064" y="1783080"/>
            <a:ext cx="2029968" cy="425196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221224" y="1947672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21224" y="194767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PASSO 3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227064" y="194767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minuto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221224" y="2377440"/>
            <a:ext cx="175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5221224" y="2926080"/>
            <a:ext cx="17556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Aprovação &amp; Ordem de Serviço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221224" y="3474720"/>
            <a:ext cx="1755648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Aprove o orçamento com 1 clique. O sistema cria automaticamente a Ordem de Serviço numerada e já a posiciona na esteira de produção.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260336" y="1783080"/>
            <a:ext cx="2029968" cy="425196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97496" y="1947672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97496" y="194767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PASSO 4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8403336" y="194767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minutos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397496" y="2377440"/>
            <a:ext cx="175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7397496" y="2926080"/>
            <a:ext cx="17556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Chão de Fábrica &amp; Estoque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397496" y="3474720"/>
            <a:ext cx="1755648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Acesse o Kanban (/work-orders) e mova a OS para "Impressão". Mostre na aba de Insumos (/raw-materials) a dedução automática de folhas do estoque.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9436608" y="1783080"/>
            <a:ext cx="2029968" cy="425196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573768" y="1947672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573768" y="194767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PASSO 5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0579608" y="194767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minutos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9573768" y="2377440"/>
            <a:ext cx="175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9573768" y="2926080"/>
            <a:ext cx="17556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Fechamento &amp; DRE Gerencial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573768" y="3474720"/>
            <a:ext cx="1755648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Visite a tela do DRE (/financial/dre) e Contas a Receber. Demonstre como a venda recém-aprovada alimentou a receita, custos e o lucro líquido.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731520" y="6355080"/>
            <a:ext cx="107259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31520" y="64190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ERP Gráfica Modular • Apresentação de MVP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9601200" y="6419088"/>
            <a:ext cx="1856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194560" cy="292608"/>
          </a:xfrm>
          <a:prstGeom prst="roundRect">
            <a:avLst>
              <a:gd name="adj" fmla="val 46875"/>
            </a:avLst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VISÃO DE FUTURO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do Produto: Próximos Passos &amp; Oportunidades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MVP validado e funcional à plataforma completa de transformação digital do setor gráfico.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783080"/>
            <a:ext cx="5669280" cy="960120"/>
          </a:xfrm>
          <a:prstGeom prst="roundRect">
            <a:avLst>
              <a:gd name="adj" fmla="val 952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892808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App Mobile / PWA para Operadores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60120" y="2167128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Leitura de QR Code na máquina com câmera do celular ou tablet para apontamento de início, pausas e perdas com 1 toque.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31520" y="2834640"/>
            <a:ext cx="5669280" cy="960120"/>
          </a:xfrm>
          <a:prstGeom prst="roundRect">
            <a:avLst>
              <a:gd name="adj" fmla="val 952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944368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🖨️ Integração Direta com CTP (JDF / CIP4)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60120" y="3218688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Envio automático das curvas de tintas e layout de imposição para as gravadoras de chapas e impressoras industriais.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31520" y="3886200"/>
            <a:ext cx="5669280" cy="960120"/>
          </a:xfrm>
          <a:prstGeom prst="roundRect">
            <a:avLst>
              <a:gd name="adj" fmla="val 952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3995928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Portal B2B do Cliente Gráfico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960120" y="4270248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Área do cliente para solicitação de propostas online, upload de arquivos e aprovação digital de provas em PDF com assinatura.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31520" y="4937760"/>
            <a:ext cx="5669280" cy="960120"/>
          </a:xfrm>
          <a:prstGeom prst="roundRect">
            <a:avLst>
              <a:gd name="adj" fmla="val 952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5047488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Inteligência Artificial Preditiva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960120" y="5321808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Previsão de reposição de insumos para compras antecipadas em lote com melhor preço e sugestão de precificação dinâmica.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675120" y="1783080"/>
            <a:ext cx="4754880" cy="4251960"/>
          </a:xfrm>
          <a:prstGeom prst="roundRect">
            <a:avLst>
              <a:gd name="adj" fmla="val 258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75120" y="1783080"/>
            <a:ext cx="4754880" cy="91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0" y="2011680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DO PROJETO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949440" y="228600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100% Funcional e Validado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949440" y="2743200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Regras industriais de corte e precificação implementadas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949440" y="3182112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Fluxo completo: Comercial ➔ Produção ➔ Estoque ➔ DRE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949440" y="3621024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174 testes automatizados cobrindo os módulos críticos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949440" y="4059936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API aberta com 19 rotas documentadas em OpenAPI/Swagger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949440" y="4498848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Banco de dados resiliente e reproduzível com scripts de seed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949440" y="5029200"/>
            <a:ext cx="4206240" cy="777240"/>
          </a:xfrm>
          <a:prstGeom prst="roundRect">
            <a:avLst>
              <a:gd name="adj" fmla="val 11765"/>
            </a:avLst>
          </a:prstGeom>
          <a:solidFill>
            <a:srgbClr val="0F2344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49440" y="502920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 Dúvidas, Sugestões &amp; Feedback?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949440" y="544068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FDB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Vamos abrir a discussão e testar juntos o sistema ao vivo!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31520" y="6355080"/>
            <a:ext cx="10725912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" y="64190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ERP Gráfica Modular • Apresentação de MVP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9601200" y="6419088"/>
            <a:ext cx="1856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2026-09-29T18:52:34Z</dcterms:created>
  <dcterms:modified xsi:type="dcterms:W3CDTF">2026-09-29T18:52:34Z</dcterms:modified>
</cp:coreProperties>
</file>